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1888" y="2507615"/>
            <a:ext cx="392822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spc="250" kern="0" dirty="0">
                <a:solidFill>
                  <a:srgbClr val="2F9E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MLOPS · DATAOPS · SOUTENANCE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7113" y="2906395"/>
            <a:ext cx="10137775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290"/>
              </a:lnSpc>
              <a:buNone/>
            </a:pPr>
            <a:r>
              <a:rPr lang="en-US" sz="4600" b="1" dirty="0">
                <a:solidFill>
                  <a:srgbClr val="F4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</a:t>
            </a:r>
            <a:r>
              <a:rPr lang="en-US" sz="4600" b="1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MLOPS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008187" y="3781425"/>
            <a:ext cx="817562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8A95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Prédiction de la qualité de l'air à Delhi, Inde — de l'ingestion des données à la mise en service d'une API de prédiction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5625465"/>
            <a:ext cx="2685202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spc="50" kern="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ENCADRANTS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12800" y="5845175"/>
            <a:ext cx="2685202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4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Pr. Mohammed Ait Daoud · Pr. Taoufik Amzil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31021" y="5425440"/>
            <a:ext cx="115697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spc="100" kern="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RÉALISÉ PAR 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483576" y="5645150"/>
            <a:ext cx="340106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4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 Ouarrirh · Mouad Radouani · Abdelkarim Narjiss · Malak El Filali · Nour Khamali · Nadia Elkasmi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48420" y="5603240"/>
            <a:ext cx="250370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4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aliouarrirh/air_quality_mlops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11707" y="5849620"/>
            <a:ext cx="223251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Soutenance — 21 septembre 2026</a:t>
            </a:r>
            <a:endParaRPr lang="en-US" sz="1100" dirty="0"/>
          </a:p>
        </p:txBody>
      </p:sp>
      <p:pic>
        <p:nvPicPr>
          <p:cNvPr id="11" name="Image 0" descr="departeme_t_logo-removebg-preview (1).png">    </p:cNvPr>
          <p:cNvPicPr>
            <a:picLocks noChangeAspect="1"/>
          </p:cNvPicPr>
          <p:nvPr/>
        </p:nvPicPr>
        <p:blipFill>
          <a:blip r:embed="rId1"/>
          <a:srcRect l="0" r="0" t="5453" b="5453"/>
          <a:stretch/>
        </p:blipFill>
        <p:spPr>
          <a:xfrm>
            <a:off x="6415246" y="355084"/>
            <a:ext cx="1202055" cy="756364"/>
          </a:xfrm>
          <a:prstGeom prst="rect">
            <a:avLst/>
          </a:prstGeom>
        </p:spPr>
      </p:pic>
      <p:pic>
        <p:nvPicPr>
          <p:cNvPr id="12" name="Image 1" descr="Logo fsbm.png">    </p:cNvPr>
          <p:cNvPicPr>
            <a:picLocks noChangeAspect="1"/>
          </p:cNvPicPr>
          <p:nvPr/>
        </p:nvPicPr>
        <p:blipFill>
          <a:blip r:embed="rId2"/>
          <a:srcRect l="0" r="0" t="25348" b="25348"/>
          <a:stretch/>
        </p:blipFill>
        <p:spPr>
          <a:xfrm>
            <a:off x="4277717" y="357902"/>
            <a:ext cx="1522651" cy="7507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[ 01 / INTRODUCTION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8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CONTEXTE ET PROBLÉMATIQUE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02130"/>
            <a:ext cx="562483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Delhi figure parmi les métropoles les plus polluées au monde. Les dispositifs de mesure actuels publient des relevés constatés, sans capacité d'anticipation.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754630"/>
            <a:ext cx="562483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pic de PM2.5 prédit quelques heures à l'avance permet de déclencher des alertes sanitaires, d'adapter la circulation ou de fermer des établissements scolaires en amont.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3707130"/>
            <a:ext cx="562483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« Ne pas surveiller — anticiper. 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1775" y="1805305"/>
            <a:ext cx="4794250" cy="1779270"/>
          </a:xfrm>
          <a:prstGeom prst="roundRect">
            <a:avLst>
              <a:gd name="adj" fmla="val 4104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12280" y="2035810"/>
            <a:ext cx="446323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50" kern="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READOUT · PM2.5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12280" y="2289810"/>
            <a:ext cx="4463237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150+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812280" y="2924810"/>
            <a:ext cx="4463237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µg/m³ en pic hivernal, bien au-delà des seuils sanitaires de l'OMS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1775" y="3743325"/>
            <a:ext cx="4794250" cy="156464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12280" y="3973830"/>
            <a:ext cx="446323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50" kern="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READOUT · COUVERTURE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12280" y="4227830"/>
            <a:ext cx="4463237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812280" y="4862830"/>
            <a:ext cx="446323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stations de mesure à Delhi et dans sa région (OpenAQ v3)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845800" y="627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[ 02 / VISION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8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VISION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05305"/>
            <a:ext cx="5175250" cy="1586230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71880" y="2061211"/>
            <a:ext cx="4803343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Opérateurs de santé publique et de gestion urbaine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1880" y="2655570"/>
            <a:ext cx="480334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prédiction horodatée et catégorisée, pour déclencher des actions préventives.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1805305"/>
            <a:ext cx="5175250" cy="1586230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56680" y="2061211"/>
            <a:ext cx="480334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Développeurs d'applications tierces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56680" y="2396491"/>
            <a:ext cx="480334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API à consommer, pour intégrer la prédiction dans d'autres outils.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3651886"/>
            <a:ext cx="10560050" cy="1601470"/>
          </a:xfrm>
          <a:prstGeom prst="roundRect">
            <a:avLst>
              <a:gd name="adj" fmla="val 4560"/>
            </a:avLst>
          </a:prstGeom>
          <a:solidFill>
            <a:srgbClr val="EAF6EF"/>
          </a:solidFill>
          <a:ln w="6350">
            <a:solidFill>
              <a:srgbClr val="BFE3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1880" y="3907791"/>
            <a:ext cx="1034968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7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OÙ EST LA VALEUR MÉTIER 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1880" y="4253230"/>
            <a:ext cx="103496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valeur n'est pas dans la mesure — les réseaux de stations le font déjà. Elle est dans l'anticipation.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75055" y="4624705"/>
            <a:ext cx="2852023" cy="369570"/>
          </a:xfrm>
          <a:prstGeom prst="roundRect">
            <a:avLst>
              <a:gd name="adj" fmla="val 40378"/>
            </a:avLst>
          </a:prstGeom>
          <a:solidFill>
            <a:srgbClr val="FFFFFF"/>
          </a:solidFill>
          <a:ln w="6350">
            <a:solidFill>
              <a:srgbClr val="BFE3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9360" y="4702810"/>
            <a:ext cx="26197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9E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Prédiction PM2.5 à quelques heures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85828" y="4624705"/>
            <a:ext cx="2484358" cy="369570"/>
          </a:xfrm>
          <a:prstGeom prst="roundRect">
            <a:avLst>
              <a:gd name="adj" fmla="val 40378"/>
            </a:avLst>
          </a:prstGeom>
          <a:solidFill>
            <a:srgbClr val="FFFFFF"/>
          </a:solidFill>
          <a:ln w="6350">
            <a:solidFill>
              <a:srgbClr val="BFE3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40133" y="4702810"/>
            <a:ext cx="22410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9E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Catégorie AQI (standard NAQI)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8937" y="4624705"/>
            <a:ext cx="2045891" cy="369570"/>
          </a:xfrm>
          <a:prstGeom prst="roundRect">
            <a:avLst>
              <a:gd name="adj" fmla="val 40378"/>
            </a:avLst>
          </a:prstGeom>
          <a:solidFill>
            <a:srgbClr val="FFFFFF"/>
          </a:solidFill>
          <a:ln w="6350">
            <a:solidFill>
              <a:srgbClr val="BFE3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3242" y="4702810"/>
            <a:ext cx="17893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9E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stable et observable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845800" y="627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24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[ 02 / VISION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8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STRATÉGIE DE DONNÉES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02130"/>
            <a:ext cx="536321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données proviennent d'instantanés CSV versionnés dans le dépôt, plutôt que d'appels directs à l'API OpenAQ.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487930"/>
            <a:ext cx="536321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choix est motivé par la reproductibilité : la CI reconstruit l'intégralité de la chaîne à chaque commit, sans dépendre d'un service externe ni d'une clé secrète.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3440430"/>
            <a:ext cx="536321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F9E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 connecteur dlt reste identique ; seule la source change.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7775" y="1805305"/>
            <a:ext cx="5048250" cy="1497330"/>
          </a:xfrm>
          <a:prstGeom prst="roundRect">
            <a:avLst>
              <a:gd name="adj" fmla="val 4877"/>
            </a:avLst>
          </a:prstGeom>
          <a:solidFill>
            <a:srgbClr val="EAF6EF"/>
          </a:solidFill>
          <a:ln w="6350">
            <a:solidFill>
              <a:srgbClr val="BFE3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2880" y="2010411"/>
            <a:ext cx="477718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2F9E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RETENU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32880" y="2282191"/>
            <a:ext cx="477718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Instantanés CSV versionnés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2880" y="2602230"/>
            <a:ext cx="477718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Reproductible à chaque exécution de CI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Aucune clé secrète requise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27775" y="3461386"/>
            <a:ext cx="5048250" cy="1497330"/>
          </a:xfrm>
          <a:prstGeom prst="roundRect">
            <a:avLst>
              <a:gd name="adj" fmla="val 4877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2880" y="3666491"/>
            <a:ext cx="477718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ÉCARTÉ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2880" y="3938270"/>
            <a:ext cx="477718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Appels directs à l'API OpenAQ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2880" y="4258311"/>
            <a:ext cx="477718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8A919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Dépend de la disponibilité du service et d'une clé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8A919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 reproductible en intégration continue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845800" y="627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24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[ 02 / VISION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82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INDICATEURS DE SUCCÈS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932"/>
          <a:ext cx="10566400" cy="2621280"/>
        </p:xfrm>
        <a:graphic>
          <a:graphicData uri="http://schemas.openxmlformats.org/drawingml/2006/table">
            <a:tbl>
              <a:tblPr/>
              <a:tblGrid>
                <a:gridCol w="4437888"/>
                <a:gridCol w="6128512"/>
              </a:tblGrid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Indicateur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Cible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Pipeline de données opérationnel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DuckDB alimenté, mart produit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Modèle enregistré et versionné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MLflow avec alias champion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 disponible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/health répond 200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Supervision active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Grafana affiche les 14 panneaux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CI au vert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Les 3 jobs passent sur chaque push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845800" y="627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24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33720" y="2339339"/>
            <a:ext cx="9753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250" kern="0" dirty="0">
                <a:solidFill>
                  <a:srgbClr val="2F9E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113532" y="2839721"/>
            <a:ext cx="596493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EXÉCUTION DU PROJET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483576" y="3728721"/>
            <a:ext cx="29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4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440000" y="4323082"/>
            <a:ext cx="38179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5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épics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0028" y="3728721"/>
            <a:ext cx="53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4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177393" y="4323082"/>
            <a:ext cx="78382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5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stories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10722" y="3728721"/>
            <a:ext cx="29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4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316821" y="4323082"/>
            <a:ext cx="48252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5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31472" y="3728721"/>
            <a:ext cx="29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4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154942" y="4323082"/>
            <a:ext cx="64777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5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membres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[ 03 / GESTION DE PROJET AGILE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82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ORGANISATION AGILE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76732"/>
            <a:ext cx="98107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équipe de sept membres, organisée en Scrum léger adapté au contexte universitaire. Les rôles sont fixés dès le Sprint 1 et maintenus sur toute la durée du projet.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538732"/>
          <a:ext cx="10566400" cy="2221230"/>
        </p:xfrm>
        <a:graphic>
          <a:graphicData uri="http://schemas.openxmlformats.org/drawingml/2006/table">
            <a:tbl>
              <a:tblPr/>
              <a:tblGrid>
                <a:gridCol w="2113280"/>
                <a:gridCol w="3169920"/>
                <a:gridCol w="5283200"/>
              </a:tblGrid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Rôle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Membre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Responsabilités principales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 Owner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5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Nour Khamalli, Majda Chouiekh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Backlog, priorisation, critères d'acceptation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Scrum Master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5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Malak el filali, Nadia el kasmi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Facilitation, suivi des impediments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 Engineer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5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Abdelkrim Narjiss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Ingestion, transformations, orchestration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ML Engineer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5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Ali Ouarrirh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Modélisation, MLflow, API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 Analyst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5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Mouad Radouani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Qualité des données, supervision, Grafana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998721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Backlog : 6 épics → 19 user stories, couvrant 11 livrables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845800" y="627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24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[ 03 / GESTION DE PROJET AGILE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82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PARCOURS DES SPRINTS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05307"/>
            <a:ext cx="1648857" cy="1457325"/>
          </a:xfrm>
          <a:prstGeom prst="roundRect">
            <a:avLst>
              <a:gd name="adj" fmla="val 5011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4880" y="1985011"/>
            <a:ext cx="144184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SPRINT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44880" y="2244089"/>
            <a:ext cx="1441847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Infrastructure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44880" y="2513332"/>
            <a:ext cx="1441847" cy="594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Compose, MLflow, MinIO, dépôt GitHub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98182" y="1805307"/>
            <a:ext cx="1648936" cy="1457325"/>
          </a:xfrm>
          <a:prstGeom prst="roundRect">
            <a:avLst>
              <a:gd name="adj" fmla="val 5011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27087" y="1985011"/>
            <a:ext cx="144192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SPRINT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27087" y="2244089"/>
            <a:ext cx="1441926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727087" y="2513332"/>
            <a:ext cx="1441926" cy="594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Connecteur dlt, chargement CSV dans DuckDB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0468" y="1805307"/>
            <a:ext cx="1648857" cy="1457325"/>
          </a:xfrm>
          <a:prstGeom prst="roundRect">
            <a:avLst>
              <a:gd name="adj" fmla="val 5011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09373" y="1985011"/>
            <a:ext cx="144184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SPRINT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09373" y="2244089"/>
            <a:ext cx="1441847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Qualité &amp; Tests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09373" y="2513332"/>
            <a:ext cx="1441847" cy="594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couches dbt, contrat de données, Dagster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62675" y="1805307"/>
            <a:ext cx="1648936" cy="1457325"/>
          </a:xfrm>
          <a:prstGeom prst="roundRect">
            <a:avLst>
              <a:gd name="adj" fmla="val 5011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91580" y="1985011"/>
            <a:ext cx="144192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SPRINT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91580" y="2244089"/>
            <a:ext cx="1441926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Modélisation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91580" y="2513332"/>
            <a:ext cx="1441926" cy="594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Entraînement XGBoost, intégration MLflow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44962" y="1805307"/>
            <a:ext cx="1648857" cy="1457325"/>
          </a:xfrm>
          <a:prstGeom prst="roundRect">
            <a:avLst>
              <a:gd name="adj" fmla="val 5011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73866" y="1985011"/>
            <a:ext cx="144184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SPRINT 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73866" y="2244089"/>
            <a:ext cx="1441847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73866" y="2513332"/>
            <a:ext cx="1441847" cy="594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FastAPI, résolution du modèle, /reload à chaud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27168" y="1805307"/>
            <a:ext cx="1648857" cy="1457325"/>
          </a:xfrm>
          <a:prstGeom prst="roundRect">
            <a:avLst>
              <a:gd name="adj" fmla="val 5011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56074" y="1985011"/>
            <a:ext cx="144184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SPRINT 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56074" y="2244089"/>
            <a:ext cx="1441847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Supervision &amp; CI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56074" y="2513332"/>
            <a:ext cx="1441847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 Grafana, CI, déploiement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2800" y="3519807"/>
            <a:ext cx="981075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Chaque sprint a rencontré au moins un incident — presque toujours à la frontière entre l'environnement local et l'environnement déployé.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845800" y="627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24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922000" y="62738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[ 03 / GESTION DE PROJET AGILE 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2800" y="1109979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INCIDENTS ET ENSEIGNEMENTS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12800" y="1778000"/>
            <a:ext cx="2413000" cy="2203450"/>
          </a:xfrm>
          <a:prstGeom prst="roundRect">
            <a:avLst>
              <a:gd name="adj" fmla="val 4611"/>
            </a:avLst>
          </a:prstGeom>
          <a:solidFill>
            <a:srgbClr val="12181D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2032000"/>
            <a:ext cx="196215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066800" y="2870200"/>
            <a:ext cx="196215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B7C0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incidents rencontrés au fil des sprints — autant d'opportunités d'apprentissage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0" y="1778000"/>
          <a:ext cx="7950200" cy="1651000"/>
        </p:xfrm>
        <a:graphic>
          <a:graphicData uri="http://schemas.openxmlformats.org/drawingml/2006/table">
            <a:tbl>
              <a:tblPr/>
              <a:tblGrid>
                <a:gridCol w="636016"/>
                <a:gridCol w="3498088"/>
                <a:gridCol w="3816096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Incident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Résolution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Backend MLflow refuse les écritures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Migration vers SQLite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Artefacts introuvables depuis l'API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Stockage objet MinIO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CI échoue faute de données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Reconstruction depuis CSV versionnés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Promotion du modèle sans effet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Nettoyage de la configuration d'environnement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45800" y="627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[ 03 / GESTION DE PROJET AGILE 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2800" y="1109979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RÉTROSPECTIVE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95425" y="2543175"/>
            <a:ext cx="9201150" cy="17716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02130" y="2799079"/>
            <a:ext cx="8845372" cy="676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190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majorité des incidents ne viennent pas d'erreurs de logique métier, mais de l'écart entre l'environnement local et l'environnement déployé.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802130" y="3577592"/>
            <a:ext cx="884537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Plusieurs échouaient silencieusement, sans message d'erreur visible — ce qui a justifié l'investissement dans la supervision et l'intégration continue.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33720" y="2339342"/>
            <a:ext cx="9753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250" kern="0" dirty="0">
                <a:solidFill>
                  <a:srgbClr val="2F9E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642616" y="2839721"/>
            <a:ext cx="690676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ARCHITECTURE TECHNIQUE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252436" y="3728721"/>
            <a:ext cx="29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4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2123" y="4323079"/>
            <a:ext cx="149534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5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couches fonctionnelles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75973" y="3728721"/>
            <a:ext cx="29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4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503069" y="4323079"/>
            <a:ext cx="104044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5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services Docker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09857" y="3728721"/>
            <a:ext cx="127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4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~44 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899116" y="4323079"/>
            <a:ext cx="169148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5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durée du pipeline complet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[ 04 / ARCHITECTURE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79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ARCHITECTURE GÉNÉRALE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56104"/>
            <a:ext cx="1781810" cy="1092200"/>
          </a:xfrm>
          <a:prstGeom prst="roundRect">
            <a:avLst>
              <a:gd name="adj" fmla="val 6686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180" y="2035814"/>
            <a:ext cx="16002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180" y="2294892"/>
            <a:ext cx="16002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32180" y="2564129"/>
            <a:ext cx="16002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dlt</a:t>
            </a:r>
            <a:endParaRPr lang="en-US" sz="115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02560" y="2351404"/>
            <a:ext cx="203200" cy="10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10535" y="1856104"/>
            <a:ext cx="1781810" cy="1092200"/>
          </a:xfrm>
          <a:prstGeom prst="roundRect">
            <a:avLst>
              <a:gd name="adj" fmla="val 6686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126740" y="2035814"/>
            <a:ext cx="16002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26740" y="2294892"/>
            <a:ext cx="16002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Transformation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126740" y="2564129"/>
            <a:ext cx="16002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DuckDB · dbt</a:t>
            </a:r>
            <a:endParaRPr lang="en-US" sz="115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97120" y="2351404"/>
            <a:ext cx="203200" cy="101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05095" y="1856104"/>
            <a:ext cx="1781810" cy="1092200"/>
          </a:xfrm>
          <a:prstGeom prst="roundRect">
            <a:avLst>
              <a:gd name="adj" fmla="val 6686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321300" y="2035814"/>
            <a:ext cx="16002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321300" y="2294892"/>
            <a:ext cx="16002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Orchestration &amp; ML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321300" y="2564129"/>
            <a:ext cx="16002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Dagster · XGBoost</a:t>
            </a:r>
            <a:endParaRPr lang="en-US" sz="115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91680" y="2351404"/>
            <a:ext cx="203200" cy="101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399655" y="1856104"/>
            <a:ext cx="1781810" cy="1092200"/>
          </a:xfrm>
          <a:prstGeom prst="roundRect">
            <a:avLst>
              <a:gd name="adj" fmla="val 6686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515860" y="2035814"/>
            <a:ext cx="16002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515860" y="2294892"/>
            <a:ext cx="16002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7515860" y="2564129"/>
            <a:ext cx="16002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FastAPI</a:t>
            </a:r>
            <a:endParaRPr lang="en-US" sz="1150" dirty="0"/>
          </a:p>
        </p:txBody>
      </p:sp>
      <p:pic>
        <p:nvPicPr>
          <p:cNvPr id="23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86240" y="2351404"/>
            <a:ext cx="203200" cy="1016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594215" y="1856104"/>
            <a:ext cx="1781810" cy="1092200"/>
          </a:xfrm>
          <a:prstGeom prst="roundRect">
            <a:avLst>
              <a:gd name="adj" fmla="val 6686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9710420" y="2035814"/>
            <a:ext cx="16002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710420" y="2294892"/>
            <a:ext cx="16002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Supervision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710420" y="2564129"/>
            <a:ext cx="16002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Grafana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812800" y="3256279"/>
            <a:ext cx="915670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système est orchestré par Dagster et industrialisé via GitHub Actions (intégration continue) et Komodo (déploiement).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0845800" y="627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24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[ 04 / ARCHITECTURE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79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CHOIX TECHNOLOGIQUES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51329"/>
          <a:ext cx="5080000" cy="3240405"/>
        </p:xfrm>
        <a:graphic>
          <a:graphicData uri="http://schemas.openxmlformats.org/drawingml/2006/table">
            <a:tbl>
              <a:tblPr/>
              <a:tblGrid>
                <a:gridCol w="1625600"/>
                <a:gridCol w="1117600"/>
                <a:gridCol w="2336800"/>
              </a:tblGrid>
              <a:tr h="31686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Composant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Outil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Justification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52133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Ingestion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dlt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Connecteur déclaratif et idempotent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33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Stockage analytique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DuckDB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 embarquée, aucun service à maintenir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33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Transformations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dbt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Modularité, tests intégrés, lignage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Orchestration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Dagster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Graphe d'assets explicite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33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Modélisation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XGBoost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Performant sur données tabulaires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33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Suivi &amp; registre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MLflow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Standard de facto, gestion d'alias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0" y="1751329"/>
          <a:ext cx="5080000" cy="3444875"/>
        </p:xfrm>
        <a:graphic>
          <a:graphicData uri="http://schemas.openxmlformats.org/drawingml/2006/table">
            <a:tbl>
              <a:tblPr/>
              <a:tblGrid>
                <a:gridCol w="1625600"/>
                <a:gridCol w="1117600"/>
                <a:gridCol w="2336800"/>
              </a:tblGrid>
              <a:tr h="31686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Composant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Outil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Justification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52133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Stockage objet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MinIO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Compatible S3, partage entre conteneurs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33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Service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FastAPI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Swagger auto, rechargement à chaud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33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Conteneurisation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Docker Compose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Reproductibilité, isolation (9 services)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33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CI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GitHub Actions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Intégré au dépôt, aucun service externe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33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Supervision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Grafana + PostgreSQL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Provisionné automatiquement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33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Déploiement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Komodo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Plateforme utilisée par l'établissement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845800" y="627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24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[ 05 / PIPELINE DATAOPS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79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INGESTION ET TRANSFORMATION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79904"/>
            <a:ext cx="2330450" cy="833120"/>
          </a:xfrm>
          <a:prstGeom prst="roundRect">
            <a:avLst>
              <a:gd name="adj" fmla="val 8765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180" y="1959614"/>
            <a:ext cx="216098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2180" y="2228850"/>
            <a:ext cx="2160981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dlt · 3 ressources</a:t>
            </a:r>
            <a:endParaRPr lang="en-US" sz="115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51200" y="2145667"/>
            <a:ext cx="203200" cy="10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59175" y="1779904"/>
            <a:ext cx="2330450" cy="833120"/>
          </a:xfrm>
          <a:prstGeom prst="roundRect">
            <a:avLst>
              <a:gd name="adj" fmla="val 8765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75380" y="1959614"/>
            <a:ext cx="216098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675380" y="2228850"/>
            <a:ext cx="2160981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stg_delhi_measurements</a:t>
            </a:r>
            <a:endParaRPr lang="en-US" sz="115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94400" y="2145667"/>
            <a:ext cx="203200" cy="101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2375" y="1779904"/>
            <a:ext cx="2330450" cy="833120"/>
          </a:xfrm>
          <a:prstGeom prst="roundRect">
            <a:avLst>
              <a:gd name="adj" fmla="val 8765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18580" y="1959614"/>
            <a:ext cx="216098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Intermédiaire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18580" y="2228850"/>
            <a:ext cx="2160981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int_delhi_cleaned</a:t>
            </a:r>
            <a:endParaRPr lang="en-US" sz="115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37600" y="2145667"/>
            <a:ext cx="203200" cy="1016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45575" y="1779904"/>
            <a:ext cx="2330450" cy="833120"/>
          </a:xfrm>
          <a:prstGeom prst="roundRect">
            <a:avLst>
              <a:gd name="adj" fmla="val 8765"/>
            </a:avLst>
          </a:prstGeom>
          <a:solidFill>
            <a:srgbClr val="EAF6EF"/>
          </a:solidFill>
          <a:ln w="6350">
            <a:solidFill>
              <a:srgbClr val="BFE3C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161780" y="1959614"/>
            <a:ext cx="216098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9161780" y="2228850"/>
            <a:ext cx="2160981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F7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mart_delhi_hourly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12800" y="2844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RESSOURCES DLT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15975" y="3132454"/>
            <a:ext cx="1572260" cy="335280"/>
          </a:xfrm>
          <a:prstGeom prst="roundRect">
            <a:avLst>
              <a:gd name="adj" fmla="val 14205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44880" y="3197859"/>
            <a:ext cx="136525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delhi_locations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2496185" y="3132454"/>
            <a:ext cx="1835150" cy="335280"/>
          </a:xfrm>
          <a:prstGeom prst="roundRect">
            <a:avLst>
              <a:gd name="adj" fmla="val 14205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625090" y="3197859"/>
            <a:ext cx="162814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delhi_measurements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439285" y="3132454"/>
            <a:ext cx="1309370" cy="335280"/>
          </a:xfrm>
          <a:prstGeom prst="roundRect">
            <a:avLst>
              <a:gd name="adj" fmla="val 14205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568190" y="3197859"/>
            <a:ext cx="110236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delhi_latest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12800" y="3699514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Écriture idempotente : relancer l'ingestion sur les mêmes données ne produit aucun doublon. Résultat : 4 332 lignes dans le mart.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0845800" y="627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24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[ 05 / PIPELINE DATAOPS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79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ORCHESTRATION ET QUALITÉ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903096"/>
            <a:ext cx="2406650" cy="513080"/>
          </a:xfrm>
          <a:prstGeom prst="roundRect">
            <a:avLst>
              <a:gd name="adj" fmla="val 14233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180" y="2057400"/>
            <a:ext cx="2239467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ingest_delhi_data</a:t>
            </a:r>
            <a:endParaRPr lang="en-US" sz="115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27400" y="2108839"/>
            <a:ext cx="203200" cy="101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35375" y="1903096"/>
            <a:ext cx="2406650" cy="513080"/>
          </a:xfrm>
          <a:prstGeom prst="roundRect">
            <a:avLst>
              <a:gd name="adj" fmla="val 14233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751580" y="2057400"/>
            <a:ext cx="2239467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run_dbt</a:t>
            </a:r>
            <a:endParaRPr lang="en-US" sz="1150" dirty="0"/>
          </a:p>
        </p:txBody>
      </p:sp>
      <p:pic>
        <p:nvPicPr>
          <p:cNvPr id="9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46800" y="2108839"/>
            <a:ext cx="203200" cy="101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54775" y="1903096"/>
            <a:ext cx="2406650" cy="513080"/>
          </a:xfrm>
          <a:prstGeom prst="roundRect">
            <a:avLst>
              <a:gd name="adj" fmla="val 14233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570980" y="2057400"/>
            <a:ext cx="2239467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train_model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969375" y="1779904"/>
            <a:ext cx="2406650" cy="75946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6350">
            <a:solidFill>
              <a:srgbClr val="8A919A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9085580" y="1934214"/>
            <a:ext cx="2239467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collect_monitoring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9085580" y="2189479"/>
            <a:ext cx="223946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19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indépendant · toutes les heures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5975" y="2774317"/>
            <a:ext cx="3397250" cy="1371600"/>
          </a:xfrm>
          <a:prstGeom prst="roundRect">
            <a:avLst>
              <a:gd name="adj" fmla="val 5324"/>
            </a:avLst>
          </a:prstGeom>
          <a:solidFill>
            <a:srgbClr val="EAF6EF"/>
          </a:solidFill>
          <a:ln w="6350">
            <a:solidFill>
              <a:srgbClr val="BFE3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21080" y="2979421"/>
            <a:ext cx="3076651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1F7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Contrat de données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1021080" y="3263900"/>
            <a:ext cx="3076651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air_quality_contract.yaml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1021080" y="3531871"/>
            <a:ext cx="307665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Schéma, types, champs obligatoires, seuils de qualité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397375" y="2774317"/>
            <a:ext cx="3397250" cy="1371600"/>
          </a:xfrm>
          <a:prstGeom prst="roundRect">
            <a:avLst>
              <a:gd name="adj" fmla="val 5324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602480" y="2979421"/>
            <a:ext cx="3076651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tests dbt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4602480" y="3263900"/>
            <a:ext cx="307665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not_null sur les champs critiques, accepted_values sur les catégories AQI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7978775" y="2774317"/>
            <a:ext cx="3397250" cy="1371600"/>
          </a:xfrm>
          <a:prstGeom prst="roundRect">
            <a:avLst>
              <a:gd name="adj" fmla="val 5324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8183880" y="2979421"/>
            <a:ext cx="3076651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métier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8183880" y="3263900"/>
            <a:ext cx="307665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PM2.5 hivernal &gt; PM2.5 de mousson — invariant climatique connu de Delhi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0845800" y="627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24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[ 06 / COMPOSANT ML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79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PRÉPARATION ET ENTRAÎNEMENT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76735"/>
            <a:ext cx="510159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Découpage temporel 80/20, sans mélange aléatoire : les 80 % les plus anciens entraînent le modèle, les 20 % les plus récents le testent.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12800" y="2649227"/>
            <a:ext cx="510159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8A919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découpage aléatoire ferait fuiter de l'information du futur vers le passé, produisant des métriques artificiellement optimistes.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12800" y="3210558"/>
            <a:ext cx="4953000" cy="1375410"/>
          </a:xfrm>
          <a:prstGeom prst="roundRect">
            <a:avLst>
              <a:gd name="adj" fmla="val 7387"/>
            </a:avLst>
          </a:prstGeom>
          <a:solidFill>
            <a:srgbClr val="12181D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413758"/>
            <a:ext cx="4682998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F4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XGBOOST REGRESSOR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16000" y="3681735"/>
            <a:ext cx="4682998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8A95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n_estimators=200 · max_depth=6</a:t>
            </a:r>
            <a:endParaRPr lang="en-US" sz="1150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8A95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learning_rate=0.1 · subsample=0.8</a:t>
            </a:r>
            <a:endParaRPr lang="en-US" sz="1150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8A95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random_state=42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70600" y="1776735"/>
            <a:ext cx="546785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POLLUANTS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73775" y="2038983"/>
            <a:ext cx="557530" cy="309880"/>
          </a:xfrm>
          <a:prstGeom prst="roundRect">
            <a:avLst>
              <a:gd name="adj" fmla="val 15369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7280" y="2091688"/>
            <a:ext cx="40132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pm10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13855" y="2038983"/>
            <a:ext cx="469900" cy="309880"/>
          </a:xfrm>
          <a:prstGeom prst="roundRect">
            <a:avLst>
              <a:gd name="adj" fmla="val 15369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7360" y="2091688"/>
            <a:ext cx="31369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266305" y="2038983"/>
            <a:ext cx="469900" cy="309880"/>
          </a:xfrm>
          <a:prstGeom prst="roundRect">
            <a:avLst>
              <a:gd name="adj" fmla="val 15369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9810" y="2091688"/>
            <a:ext cx="31369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18755" y="2038983"/>
            <a:ext cx="382270" cy="309880"/>
          </a:xfrm>
          <a:prstGeom prst="roundRect">
            <a:avLst>
              <a:gd name="adj" fmla="val 15369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22260" y="2091688"/>
            <a:ext cx="22606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83575" y="2038983"/>
            <a:ext cx="382270" cy="309880"/>
          </a:xfrm>
          <a:prstGeom prst="roundRect">
            <a:avLst>
              <a:gd name="adj" fmla="val 15369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7080" y="2091688"/>
            <a:ext cx="22606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70600" y="2517142"/>
            <a:ext cx="546785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TEMPORELLES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73775" y="2779402"/>
            <a:ext cx="1083310" cy="309880"/>
          </a:xfrm>
          <a:prstGeom prst="roundRect">
            <a:avLst>
              <a:gd name="adj" fmla="val 15369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7280" y="2832107"/>
            <a:ext cx="92710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hour_local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239635" y="2779402"/>
            <a:ext cx="1170940" cy="309880"/>
          </a:xfrm>
          <a:prstGeom prst="roundRect">
            <a:avLst>
              <a:gd name="adj" fmla="val 15369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43140" y="2832107"/>
            <a:ext cx="101473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day_of_week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493125" y="2779402"/>
            <a:ext cx="645160" cy="309880"/>
          </a:xfrm>
          <a:prstGeom prst="roundRect">
            <a:avLst>
              <a:gd name="adj" fmla="val 15369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6630" y="2832107"/>
            <a:ext cx="48895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70600" y="3257550"/>
            <a:ext cx="546785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SAISONNIÈRES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73775" y="3519810"/>
            <a:ext cx="1346200" cy="309880"/>
          </a:xfrm>
          <a:prstGeom prst="roundRect">
            <a:avLst>
              <a:gd name="adj" fmla="val 15369"/>
            </a:avLst>
          </a:prstGeom>
          <a:solidFill>
            <a:srgbClr val="EAF6EF"/>
          </a:solidFill>
          <a:ln w="6350">
            <a:solidFill>
              <a:srgbClr val="BFE3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7280" y="3572515"/>
            <a:ext cx="118999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F7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season_winter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02525" y="3519810"/>
            <a:ext cx="1346200" cy="309880"/>
          </a:xfrm>
          <a:prstGeom prst="roundRect">
            <a:avLst>
              <a:gd name="adj" fmla="val 15369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06030" y="3572515"/>
            <a:ext cx="118999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season_summer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931275" y="3519810"/>
            <a:ext cx="1433830" cy="309880"/>
          </a:xfrm>
          <a:prstGeom prst="roundRect">
            <a:avLst>
              <a:gd name="adj" fmla="val 15369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34780" y="3572515"/>
            <a:ext cx="127762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season_monsoon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845800" y="627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24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08125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[ 06 / COMPOSANT ML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80531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RÉSULTATS DU MODÈLE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522860"/>
          <a:ext cx="7620000" cy="1854200"/>
        </p:xfrm>
        <a:graphic>
          <a:graphicData uri="http://schemas.openxmlformats.org/drawingml/2006/table">
            <a:tbl>
              <a:tblPr/>
              <a:tblGrid>
                <a:gridCol w="2133600"/>
                <a:gridCol w="1828800"/>
                <a:gridCol w="1828800"/>
                <a:gridCol w="1828800"/>
              </a:tblGrid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4F6F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Entraînement</a:t>
                      </a:r>
                      <a:endParaRPr lang="en-US" sz="1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4F6F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RMSE (µg/m³)</a:t>
                      </a:r>
                      <a:endParaRPr lang="en-US" sz="1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4F6F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MAE (µg/m³)</a:t>
                      </a:r>
                      <a:endParaRPr lang="en-US" sz="1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4F6F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R²</a:t>
                      </a:r>
                      <a:endParaRPr lang="en-US" sz="1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3A404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en-US" sz="1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3A404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38,32</a:t>
                      </a:r>
                      <a:endParaRPr lang="en-US" sz="1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3A404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29,48</a:t>
                      </a:r>
                      <a:endParaRPr lang="en-US" sz="1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3A404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0,192</a:t>
                      </a:r>
                      <a:endParaRPr lang="en-US" sz="1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3A404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</a:t>
                      </a:r>
                      <a:endParaRPr lang="en-US" sz="1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3A404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37,81</a:t>
                      </a:r>
                      <a:endParaRPr lang="en-US" sz="1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3A404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28,85</a:t>
                      </a:r>
                      <a:endParaRPr lang="en-US" sz="1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3A404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0,160</a:t>
                      </a:r>
                      <a:endParaRPr lang="en-US" sz="1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3A404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</a:t>
                      </a:r>
                      <a:endParaRPr lang="en-US" sz="1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3A404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36,86</a:t>
                      </a:r>
                      <a:endParaRPr lang="en-US" sz="1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3A404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28,17</a:t>
                      </a:r>
                      <a:endParaRPr lang="en-US" sz="1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3A404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0,176</a:t>
                      </a:r>
                      <a:endParaRPr lang="en-US" sz="1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66617"/>
            <a:ext cx="850265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écarts entre les trois entraînements sont statistiquement marginaux — de l'ordre de 1 à 2 µg/m³ de RMSE, sur des valeurs avoisinant 150.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845800" y="627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24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69180" y="2057400"/>
            <a:ext cx="25272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2F9E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PERFORMANCE DU MODÈLE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698829" y="2473958"/>
            <a:ext cx="699809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R² ≈ 0,18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1844675" y="3947158"/>
            <a:ext cx="850265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8A95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Modeste, assumé, et présenté tel quel — les variables météorologiques (vent, température, humidité, inversion thermique) sont absentes du jeu de données, alors qu'elles gouvernent la dispersion des particules fines à Delhi.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[ 07 / SUIVI ET CYCLE DE VIE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85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SUIVI MLFLOW ET CYCLE DE VIE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76735"/>
            <a:ext cx="53632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Promotion : une décision humaine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132335"/>
            <a:ext cx="5363210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Après chaque entraînement, l'alias </a:t>
            </a:r>
            <a:r>
              <a:rPr lang="en-US" sz="1250" b="1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champion</a:t>
            </a:r>
            <a:r>
              <a:rPr lang="en-US" sz="125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reste sur la version précédente jusqu'à décision explicite de le déplacer dans le registre MLflow.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12800" y="2926085"/>
            <a:ext cx="5363210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8A919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écarts de RMSE entre versions (1 à 2 µg/m³) sont trop faibles pour justifier une promotion automatique — ce serait réagir au bruit, pas à une amélioration réelle.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15975" y="3669667"/>
            <a:ext cx="5200650" cy="513080"/>
          </a:xfrm>
          <a:prstGeom prst="roundRect">
            <a:avLst>
              <a:gd name="adj" fmla="val 14233"/>
            </a:avLst>
          </a:prstGeom>
          <a:solidFill>
            <a:srgbClr val="EAF6EF"/>
          </a:solidFill>
          <a:ln w="6350">
            <a:solidFill>
              <a:srgbClr val="BFE3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5680" y="3823977"/>
            <a:ext cx="1102360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7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 /reload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48840" y="3823977"/>
            <a:ext cx="3200594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recharge le modèle sans interruption de service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24600" y="1776735"/>
            <a:ext cx="52062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Résolution du modèle par l'API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27775" y="2110110"/>
            <a:ext cx="5048250" cy="524510"/>
          </a:xfrm>
          <a:prstGeom prst="roundRect">
            <a:avLst>
              <a:gd name="adj" fmla="val 13923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82080" y="2239008"/>
            <a:ext cx="165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97980" y="2239008"/>
            <a:ext cx="4499701" cy="22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Variable </a:t>
            </a:r>
            <a:r>
              <a:rPr lang="en-US" sz="1150" b="1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MLFLOW_MODEL_URI</a:t>
            </a:r>
            <a:r>
              <a:rPr lang="en-US" sz="115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si définie — échappatoire explicite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27775" y="2717167"/>
            <a:ext cx="5048250" cy="524510"/>
          </a:xfrm>
          <a:prstGeom prst="roundRect">
            <a:avLst>
              <a:gd name="adj" fmla="val 13923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82080" y="2846077"/>
            <a:ext cx="165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7980" y="2846077"/>
            <a:ext cx="3632512" cy="22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Alias </a:t>
            </a:r>
            <a:r>
              <a:rPr lang="en-US" sz="1150" b="1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@champion</a:t>
            </a:r>
            <a:r>
              <a:rPr lang="en-US" sz="115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du registre MLflow — mode nominal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27775" y="3324225"/>
            <a:ext cx="5048250" cy="524510"/>
          </a:xfrm>
          <a:prstGeom prst="roundRect">
            <a:avLst>
              <a:gd name="adj" fmla="val 13923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82080" y="3453135"/>
            <a:ext cx="165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97980" y="3453135"/>
            <a:ext cx="4015540" cy="22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 la plus récente — repli, évite un service indisponible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845800" y="627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24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[ 08 / DÉPLOIEMENT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85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DÉPLOIEMENT, API ET CI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76735"/>
          <a:ext cx="5080000" cy="1534160"/>
        </p:xfrm>
        <a:graphic>
          <a:graphicData uri="http://schemas.openxmlformats.org/drawingml/2006/table">
            <a:tbl>
              <a:tblPr/>
              <a:tblGrid>
                <a:gridCol w="1117600"/>
                <a:gridCol w="1016000"/>
                <a:gridCol w="294640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Endpoint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Méthode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Rôle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/health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État du service, version du modèle servie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/predict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AQI prédit, catégorie NAQI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/reload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Recharge le modèle sans redémarrage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0" y="1776735"/>
          <a:ext cx="5080000" cy="1320800"/>
        </p:xfrm>
        <a:graphic>
          <a:graphicData uri="http://schemas.openxmlformats.org/drawingml/2006/table">
            <a:tbl>
              <a:tblPr/>
              <a:tblGrid>
                <a:gridCol w="1625600"/>
                <a:gridCol w="345440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Job CI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Protège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Intégrité du pipeline de bout en bout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build-docker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Déployabilité de l'image, disponibilité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Qualité et cohérence du code (ruff)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12800" y="3549650"/>
            <a:ext cx="981075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Livraison continue, non déploiement continu : le déclenchement reste un geste explicite, un choix délibéré pour un service à impact sanitaire. Déployé sur </a:t>
            </a:r>
            <a:r>
              <a:rPr lang="en-US" sz="1350" b="1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exp.s3.fsbm.ma</a:t>
            </a:r>
            <a:r>
              <a:rPr lang="en-US" sz="1350" dirty="0">
                <a:solidFill>
                  <a:srgbClr val="3A40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via Komodo.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0845800" y="627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24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[ 08 / DÉPLOIEMENT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85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SUPERVISION ET OBSERVABILITÉ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79910"/>
            <a:ext cx="3244850" cy="833120"/>
          </a:xfrm>
          <a:prstGeom prst="roundRect">
            <a:avLst>
              <a:gd name="adj" fmla="val 8765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4880" y="1959608"/>
            <a:ext cx="307665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monitoring.py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44880" y="2228850"/>
            <a:ext cx="3076651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toutes les heures, via Dagster</a:t>
            </a:r>
            <a:endParaRPr lang="en-US" sz="115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65600" y="2145667"/>
            <a:ext cx="203200" cy="10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73575" y="1779910"/>
            <a:ext cx="3244850" cy="833120"/>
          </a:xfrm>
          <a:prstGeom prst="roundRect">
            <a:avLst>
              <a:gd name="adj" fmla="val 8765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02480" y="1959608"/>
            <a:ext cx="307665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602480" y="2228850"/>
            <a:ext cx="3076651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tables de résultats</a:t>
            </a:r>
            <a:endParaRPr lang="en-US" sz="115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23200" y="2145667"/>
            <a:ext cx="203200" cy="101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131175" y="1779910"/>
            <a:ext cx="3244850" cy="833120"/>
          </a:xfrm>
          <a:prstGeom prst="roundRect">
            <a:avLst>
              <a:gd name="adj" fmla="val 8765"/>
            </a:avLst>
          </a:prstGeom>
          <a:solidFill>
            <a:srgbClr val="EAF6EF"/>
          </a:solidFill>
          <a:ln w="6350">
            <a:solidFill>
              <a:srgbClr val="BFE3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60080" y="1959608"/>
            <a:ext cx="307665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Grafana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260080" y="2228850"/>
            <a:ext cx="3076651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F7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panneaux, auto-provisionné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844800"/>
          <a:ext cx="10566400" cy="1717675"/>
        </p:xfrm>
        <a:graphic>
          <a:graphicData uri="http://schemas.openxmlformats.org/drawingml/2006/table">
            <a:tbl>
              <a:tblPr/>
              <a:tblGrid>
                <a:gridCol w="2958592"/>
                <a:gridCol w="7607808"/>
              </a:tblGrid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Axe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4F6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Mise en œuvre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1D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Disponibilité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Sondes /health et /predict, taux de disponibilité sur 72 h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Temps de réponse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Latence médiane (p50) par endpoint, série temporelle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Métriques ML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RMSE, MAE, R² relevés depuis MLflow, évolution dans le temps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Dérive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404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Score par polluant face à une distribution de référence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0845800" y="627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24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[ 10 / ANALYSE CRITIQUE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85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ANALYSE CRITIQUE ET LIMITES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54510"/>
            <a:ext cx="5213350" cy="959485"/>
          </a:xfrm>
          <a:prstGeom prst="roundRect">
            <a:avLst>
              <a:gd name="adj" fmla="val 7611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5680" y="1908808"/>
            <a:ext cx="49995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Performance du modèle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5680" y="2165350"/>
            <a:ext cx="4999558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R² ≈ 0,18 : variables météo (vent, température, humidité) absentes du jeu de données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62675" y="1754510"/>
            <a:ext cx="5213350" cy="959485"/>
          </a:xfrm>
          <a:prstGeom prst="roundRect">
            <a:avLst>
              <a:gd name="adj" fmla="val 7611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42380" y="1908808"/>
            <a:ext cx="49995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 de données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42380" y="2165350"/>
            <a:ext cx="4999558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CSV choisis pour la CI reproductible, au prix d'un rafraîchissement non automatique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5975" y="2847342"/>
            <a:ext cx="5213350" cy="762318"/>
          </a:xfrm>
          <a:prstGeom prst="roundRect">
            <a:avLst>
              <a:gd name="adj" fmla="val 9579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95680" y="3001652"/>
            <a:ext cx="49995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Promotion manuelle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95680" y="3258183"/>
            <a:ext cx="4999558" cy="22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Défendable vu les faibles gains, mais introduit une dépendance humaine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2675" y="2847342"/>
            <a:ext cx="5213350" cy="762318"/>
          </a:xfrm>
          <a:prstGeom prst="roundRect">
            <a:avLst>
              <a:gd name="adj" fmla="val 9579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42380" y="3001652"/>
            <a:ext cx="49995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Livraison ≠ déploiement continu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42380" y="3258183"/>
            <a:ext cx="4999558" cy="22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déclenchement reste un geste explicite — un choix, assumé comme tel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5975" y="3743015"/>
            <a:ext cx="5213350" cy="959485"/>
          </a:xfrm>
          <a:prstGeom prst="roundRect">
            <a:avLst>
              <a:gd name="adj" fmla="val 7611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5680" y="3897313"/>
            <a:ext cx="49995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Dérive détectée, non corrigée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95680" y="4153855"/>
            <a:ext cx="4999558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supervision détecte la dérive mais ne déclenche aucun réentraînement — boucle ouverte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62675" y="3743015"/>
            <a:ext cx="5213350" cy="959485"/>
          </a:xfrm>
          <a:prstGeom prst="roundRect">
            <a:avLst>
              <a:gd name="adj" fmla="val 7611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42380" y="3897313"/>
            <a:ext cx="49995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Sécurité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42380" y="4153855"/>
            <a:ext cx="4999558" cy="22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Identifiants MinIO par défaut 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845800" y="627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24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[ 11 / PERSPECTIVES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09985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18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PERSPECTIVES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54510"/>
            <a:ext cx="5213350" cy="959485"/>
          </a:xfrm>
          <a:prstGeom prst="roundRect">
            <a:avLst>
              <a:gd name="adj" fmla="val 7611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5680" y="1908808"/>
            <a:ext cx="49995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Variables météorologiques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5680" y="2165350"/>
            <a:ext cx="4999558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Vent, température, humidité, inversion thermique — via Open-Meteo ou ERA5, sans coût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62675" y="1754510"/>
            <a:ext cx="5213350" cy="959485"/>
          </a:xfrm>
          <a:prstGeom prst="roundRect">
            <a:avLst>
              <a:gd name="adj" fmla="val 7611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42380" y="1908808"/>
            <a:ext cx="49995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OpenAQ en temps réel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42380" y="2165350"/>
            <a:ext cx="4999558" cy="22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connecteur dlt est déjà conçu pour cette bascule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5975" y="2847342"/>
            <a:ext cx="5213350" cy="959485"/>
          </a:xfrm>
          <a:prstGeom prst="roundRect">
            <a:avLst>
              <a:gd name="adj" fmla="val 7611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95680" y="3001652"/>
            <a:ext cx="49995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Promotion conditionnelle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95680" y="3258183"/>
            <a:ext cx="4999558" cy="22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Déclenchée seulement au-delà d'un seuil de gain configurable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2675" y="2847342"/>
            <a:ext cx="5213350" cy="959485"/>
          </a:xfrm>
          <a:prstGeom prst="roundRect">
            <a:avLst>
              <a:gd name="adj" fmla="val 7611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42380" y="3001652"/>
            <a:ext cx="49995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Réentraînement sur dérive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42380" y="3258183"/>
            <a:ext cx="4999558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Fermer la boucle de supervision en déclenchant un réentraînement automatique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5975" y="3940175"/>
            <a:ext cx="5213350" cy="959485"/>
          </a:xfrm>
          <a:prstGeom prst="roundRect">
            <a:avLst>
              <a:gd name="adj" fmla="val 7611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5680" y="4094485"/>
            <a:ext cx="49995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95680" y="4351027"/>
            <a:ext cx="4999558" cy="41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Email et webhook sur disponibilité dégradée, dérive détectée, latence excessive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62675" y="3940175"/>
            <a:ext cx="5213350" cy="959485"/>
          </a:xfrm>
          <a:prstGeom prst="roundRect">
            <a:avLst>
              <a:gd name="adj" fmla="val 7611"/>
            </a:avLst>
          </a:prstGeom>
          <a:solidFill>
            <a:srgbClr val="FFFFFF"/>
          </a:solidFill>
          <a:ln w="6350">
            <a:solidFill>
              <a:srgbClr val="DDE2E5"/>
            </a:solidFill>
            <a:prstDash val="solid"/>
          </a:ln>
          <a:effectLst>
            <a:outerShdw sx="100000" sy="100000" kx="0" ky="0" algn="bl" rotWithShape="0" blurRad="152400" dist="25400" dir="5400000">
              <a:srgbClr val="12181D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42380" y="4094485"/>
            <a:ext cx="49995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18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Extension géographique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42380" y="4351027"/>
            <a:ext cx="4999558" cy="22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Mumbai, Karachi, Dhaka : de nouveaux CSV et un recalibrage des seuils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2800" y="6273800"/>
            <a:ext cx="18051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845800" y="627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1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/ 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[ 12 / CONCLUSION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160785"/>
            <a:ext cx="10137775" cy="1000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F4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UNE CHAÎNE MLOPS COMPLÈTE, OPÉRATIONNELLE ET TESTÉE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288542"/>
            <a:ext cx="9483725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B7C0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Ingestion, transformation, qualité, entraînement, registre, service, supervision, intégration continue, déploiement : chaque composant fonctionne et est déployé sur un serveur accessible.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956558"/>
            <a:ext cx="9483725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8A95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difficulté d'un projet MLOps tient moins à la logique métier qu'à la gestion de l'écart entre environnements et à la traçabilité des décisions opérationnelles.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5326385"/>
            <a:ext cx="221698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4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12800" y="5849627"/>
            <a:ext cx="221698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5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incidents, autant d'apprentissages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20812" y="5326385"/>
            <a:ext cx="176258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4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R² 0,18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20812" y="5849627"/>
            <a:ext cx="176258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5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modeste, assumé, expliqué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87658" y="5326385"/>
            <a:ext cx="148558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4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387658" y="5849627"/>
            <a:ext cx="148558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5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services conteneurisés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64800" y="5443227"/>
            <a:ext cx="96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9E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Merci.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48420" y="5849627"/>
            <a:ext cx="250370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5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aliouarrirh/air_quality_mlops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6945" y="2451100"/>
            <a:ext cx="273785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250" kern="0" dirty="0">
                <a:solidFill>
                  <a:srgbClr val="E04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DELHI AIR QUALITY MLOPS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98474" y="2849885"/>
            <a:ext cx="9795053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4F6F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MERCI POUR VOTRE ATTENTION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983870" y="3723642"/>
            <a:ext cx="222426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8A95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 et 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44424" y="4211327"/>
            <a:ext cx="250370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B7C0C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aliouarrirh/air_quality_mlops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80004" y="4211327"/>
            <a:ext cx="223251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5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Soutenance — 21 septembre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Delhi Air Quality MLOps</dc:title>
  <dc:subject>PptxGenJS Presentation</dc:subject>
  <dc:creator>PptxGenJS</dc:creator>
  <cp:lastModifiedBy>PptxGenJS</cp:lastModifiedBy>
  <cp:revision>1</cp:revision>
  <dcterms:created xsi:type="dcterms:W3CDTF">2026-09-22T19:51:10Z</dcterms:created>
  <dcterms:modified xsi:type="dcterms:W3CDTF">2026-09-22T19:51:10Z</dcterms:modified>
</cp:coreProperties>
</file>